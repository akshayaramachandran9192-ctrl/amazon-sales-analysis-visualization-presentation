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9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58B6E-0CB6-4F1A-9AF3-D2C75814F675}" v="1571" dt="2026-06-22T16:44:31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238971-2395-453D-DF9E-5D4D2759332F}"/>
              </a:ext>
            </a:extLst>
          </p:cNvPr>
          <p:cNvSpPr/>
          <p:nvPr/>
        </p:nvSpPr>
        <p:spPr>
          <a:xfrm>
            <a:off x="-2422" y="319314"/>
            <a:ext cx="11744477" cy="4792133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 b="1">
                <a:solidFill>
                  <a:schemeClr val="bg1"/>
                </a:solidFill>
                <a:latin typeface="Arial"/>
                <a:cs typeface="Arial"/>
              </a:rPr>
              <a:t>Amazon Sales Analysis Report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6D6E4C4-2B47-3F10-B873-AEB0E9B1F900}"/>
              </a:ext>
            </a:extLst>
          </p:cNvPr>
          <p:cNvSpPr>
            <a:spLocks noGrp="1"/>
          </p:cNvSpPr>
          <p:nvPr/>
        </p:nvSpPr>
        <p:spPr>
          <a:xfrm>
            <a:off x="7792810" y="4742995"/>
            <a:ext cx="3946779" cy="10382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00" b="1" dirty="0">
                <a:latin typeface="Calibri"/>
                <a:ea typeface="Calibri"/>
                <a:cs typeface="Calibri"/>
              </a:rPr>
              <a:t>Presenting the Metrics, Achievements and Detailed reports for Git hub project </a:t>
            </a:r>
            <a:r>
              <a:rPr lang="en-US" sz="2200" b="1" dirty="0" err="1">
                <a:latin typeface="Calibri"/>
                <a:ea typeface="Calibri"/>
                <a:cs typeface="Calibri"/>
              </a:rPr>
              <a:t>presentaion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allelogram 8">
            <a:extLst>
              <a:ext uri="{FF2B5EF4-FFF2-40B4-BE49-F238E27FC236}">
                <a16:creationId xmlns:a16="http://schemas.microsoft.com/office/drawing/2014/main" id="{FD4D48BB-7F36-556C-DA6E-2007EB746254}"/>
              </a:ext>
            </a:extLst>
          </p:cNvPr>
          <p:cNvSpPr/>
          <p:nvPr/>
        </p:nvSpPr>
        <p:spPr>
          <a:xfrm>
            <a:off x="7773820" y="1860826"/>
            <a:ext cx="3962557" cy="1241444"/>
          </a:xfrm>
          <a:prstGeom prst="parallelogram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EXCEL (ETL)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E655F9B4-0ACD-AB58-A4E1-24FC6E91D407}"/>
              </a:ext>
            </a:extLst>
          </p:cNvPr>
          <p:cNvSpPr/>
          <p:nvPr/>
        </p:nvSpPr>
        <p:spPr>
          <a:xfrm>
            <a:off x="7621419" y="3566253"/>
            <a:ext cx="3962557" cy="1241444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/>
              <a:t>Power BI (Modeling)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B45B3E3F-4886-1931-2465-08B313069E35}"/>
              </a:ext>
            </a:extLst>
          </p:cNvPr>
          <p:cNvSpPr/>
          <p:nvPr/>
        </p:nvSpPr>
        <p:spPr>
          <a:xfrm>
            <a:off x="7469020" y="5126540"/>
            <a:ext cx="3962557" cy="1241444"/>
          </a:xfrm>
          <a:prstGeom prst="parallelogram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/>
              <a:t>Github</a:t>
            </a:r>
            <a:r>
              <a:rPr lang="en-US" b="1" dirty="0"/>
              <a:t> (Hosting)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41B2AE-39EB-2C45-6791-D1C9E3B16C62}"/>
              </a:ext>
            </a:extLst>
          </p:cNvPr>
          <p:cNvSpPr txBox="1"/>
          <p:nvPr/>
        </p:nvSpPr>
        <p:spPr>
          <a:xfrm>
            <a:off x="191524" y="2053456"/>
            <a:ext cx="3586764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>
                    <a:lumMod val="85000"/>
                  </a:schemeClr>
                </a:solidFill>
                <a:latin typeface="Arial"/>
                <a:ea typeface="+mn-lt"/>
                <a:cs typeface="Arial"/>
              </a:rPr>
              <a:t>Project Overview &amp; Objectives</a:t>
            </a:r>
            <a:endParaRPr lang="en-US" sz="2800">
              <a:solidFill>
                <a:schemeClr val="bg1">
                  <a:lumMod val="85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algn="l"/>
            <a:endParaRPr lang="en-US" dirty="0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B700F9D9-E7B0-3785-04F1-69DFE7260D67}"/>
              </a:ext>
            </a:extLst>
          </p:cNvPr>
          <p:cNvSpPr/>
          <p:nvPr/>
        </p:nvSpPr>
        <p:spPr>
          <a:xfrm rot="10800000">
            <a:off x="2997" y="183164"/>
            <a:ext cx="4124739" cy="167308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2F184-3A63-33D6-34CA-44CEAE51CC9D}"/>
              </a:ext>
            </a:extLst>
          </p:cNvPr>
          <p:cNvSpPr txBox="1"/>
          <p:nvPr/>
        </p:nvSpPr>
        <p:spPr>
          <a:xfrm>
            <a:off x="1115390" y="3235108"/>
            <a:ext cx="357919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Identify growth opportunities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by analyzing multi-channel e-commerce </a:t>
            </a: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sales.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Streamline fulfillment pipelines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by uncovering shipping bottlenecks across </a:t>
            </a: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regions.</a:t>
            </a:r>
            <a:endParaRPr lang="en-US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Improve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inventory health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through comprehensive tracking of customer order statuses.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FD9A8-7020-3BE4-2C7A-D16B3CA13020}"/>
              </a:ext>
            </a:extLst>
          </p:cNvPr>
          <p:cNvSpPr txBox="1"/>
          <p:nvPr/>
        </p:nvSpPr>
        <p:spPr>
          <a:xfrm>
            <a:off x="7484952" y="623798"/>
            <a:ext cx="4704364" cy="80021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rial"/>
                <a:ea typeface="+mn-lt"/>
                <a:cs typeface="Arial"/>
              </a:rPr>
              <a:t>Tools for Data processing</a:t>
            </a:r>
            <a:endParaRPr lang="en-US" sz="2800" b="1">
              <a:solidFill>
                <a:schemeClr val="bg1"/>
              </a:solidFill>
              <a:latin typeface="Arial"/>
              <a:cs typeface="Arial"/>
            </a:endParaRPr>
          </a:p>
          <a:p>
            <a:pPr algn="l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24EDD2-F22F-C7A8-CA58-4C9E03875FE3}"/>
              </a:ext>
            </a:extLst>
          </p:cNvPr>
          <p:cNvCxnSpPr/>
          <p:nvPr/>
        </p:nvCxnSpPr>
        <p:spPr>
          <a:xfrm>
            <a:off x="5981462" y="1585369"/>
            <a:ext cx="59318" cy="477772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518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 1">
            <a:extLst>
              <a:ext uri="{FF2B5EF4-FFF2-40B4-BE49-F238E27FC236}">
                <a16:creationId xmlns:a16="http://schemas.microsoft.com/office/drawing/2014/main" id="{CB664890-89E0-C0CF-9409-13CEB9D4ABEE}"/>
              </a:ext>
            </a:extLst>
          </p:cNvPr>
          <p:cNvSpPr/>
          <p:nvPr/>
        </p:nvSpPr>
        <p:spPr>
          <a:xfrm rot="5400000">
            <a:off x="-1569435" y="3115367"/>
            <a:ext cx="5491132" cy="199918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FC1CF-AFF1-16A5-7A01-5EA97149BA8C}"/>
              </a:ext>
            </a:extLst>
          </p:cNvPr>
          <p:cNvSpPr/>
          <p:nvPr/>
        </p:nvSpPr>
        <p:spPr>
          <a:xfrm>
            <a:off x="10931465" y="2682"/>
            <a:ext cx="977347" cy="3399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532E6-F2F6-1275-B306-3BB1993EEB81}"/>
              </a:ext>
            </a:extLst>
          </p:cNvPr>
          <p:cNvSpPr txBox="1"/>
          <p:nvPr/>
        </p:nvSpPr>
        <p:spPr>
          <a:xfrm>
            <a:off x="2744461" y="993756"/>
            <a:ext cx="7853017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solidFill>
                  <a:schemeClr val="bg1">
                    <a:lumMod val="76000"/>
                  </a:schemeClr>
                </a:solidFill>
                <a:latin typeface="Arial"/>
                <a:cs typeface="Arial"/>
              </a:rPr>
              <a:t>My Role As </a:t>
            </a:r>
            <a:endParaRPr lang="en-US" dirty="0">
              <a:solidFill>
                <a:schemeClr val="bg1">
                  <a:lumMod val="76000"/>
                </a:schemeClr>
              </a:solidFill>
              <a:latin typeface="Aptos" panose="020B0004020202020204"/>
              <a:cs typeface="Arial"/>
            </a:endParaRPr>
          </a:p>
          <a:p>
            <a:r>
              <a:rPr lang="en-US" sz="4400" b="1">
                <a:solidFill>
                  <a:schemeClr val="bg1">
                    <a:lumMod val="76000"/>
                  </a:schemeClr>
                </a:solidFill>
                <a:latin typeface="Arial"/>
                <a:cs typeface="Arial"/>
              </a:rPr>
              <a:t>A Data</a:t>
            </a:r>
            <a:r>
              <a:rPr lang="en-US" sz="4400" b="1" dirty="0">
                <a:solidFill>
                  <a:schemeClr val="bg1">
                    <a:lumMod val="76000"/>
                  </a:schemeClr>
                </a:solidFill>
                <a:latin typeface="Arial"/>
                <a:cs typeface="Arial"/>
              </a:rPr>
              <a:t> Analyst</a:t>
            </a:r>
            <a:endParaRPr lang="en-US">
              <a:solidFill>
                <a:schemeClr val="bg1">
                  <a:lumMod val="76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3FC897-9BB1-FA02-CFF9-943DDD19FB53}"/>
              </a:ext>
            </a:extLst>
          </p:cNvPr>
          <p:cNvCxnSpPr/>
          <p:nvPr/>
        </p:nvCxnSpPr>
        <p:spPr>
          <a:xfrm flipV="1">
            <a:off x="2753454" y="2453703"/>
            <a:ext cx="2532268" cy="11200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CC7BD91-CCE0-7872-4EF3-69505F7B0256}"/>
              </a:ext>
            </a:extLst>
          </p:cNvPr>
          <p:cNvSpPr txBox="1"/>
          <p:nvPr/>
        </p:nvSpPr>
        <p:spPr>
          <a:xfrm>
            <a:off x="3048630" y="2930623"/>
            <a:ext cx="6958020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End-to-End Execution:</a:t>
            </a:r>
            <a:r>
              <a:rPr lang="en-US" sz="2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Owned the entire lifecycle from raw data to final </a:t>
            </a:r>
            <a:r>
              <a:rPr lang="en-US" sz="2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dashboard.</a:t>
            </a:r>
            <a:endParaRPr lang="en-US" sz="26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6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Data</a:t>
            </a:r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Engineering:</a:t>
            </a:r>
            <a:r>
              <a:rPr lang="en-US" sz="2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Processed, cleaned, and engineered data structures </a:t>
            </a:r>
            <a:r>
              <a:rPr lang="en-US" sz="2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within Excel.</a:t>
            </a:r>
            <a:endParaRPr lang="en-US" sz="26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6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BI </a:t>
            </a:r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Development:</a:t>
            </a:r>
            <a:r>
              <a:rPr lang="en-US" sz="2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Modeled relationships and designed interactive visuals in Power BI.</a:t>
            </a:r>
            <a:endParaRPr lang="en-US" sz="260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18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56EA22C3-DD42-ABBA-95C2-093AD1DD23A0}"/>
              </a:ext>
            </a:extLst>
          </p:cNvPr>
          <p:cNvSpPr/>
          <p:nvPr/>
        </p:nvSpPr>
        <p:spPr>
          <a:xfrm>
            <a:off x="1104" y="5116600"/>
            <a:ext cx="6097577" cy="17393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8E31CB-08B1-9D4E-CCF7-0E8F15CD25B6}"/>
              </a:ext>
            </a:extLst>
          </p:cNvPr>
          <p:cNvSpPr/>
          <p:nvPr/>
        </p:nvSpPr>
        <p:spPr>
          <a:xfrm>
            <a:off x="7500572" y="217398"/>
            <a:ext cx="4694266" cy="908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4514D-7865-19DD-CF09-6D9FA6CB577C}"/>
              </a:ext>
            </a:extLst>
          </p:cNvPr>
          <p:cNvSpPr txBox="1"/>
          <p:nvPr/>
        </p:nvSpPr>
        <p:spPr>
          <a:xfrm>
            <a:off x="416180" y="1526209"/>
            <a:ext cx="323132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latin typeface="Arial"/>
                <a:ea typeface="+mn-lt"/>
                <a:cs typeface="Arial"/>
              </a:rPr>
              <a:t>Data Quality Challenges Found</a:t>
            </a:r>
            <a:endParaRPr lang="en-US" sz="2400">
              <a:solidFill>
                <a:schemeClr val="bg2">
                  <a:lumMod val="76000"/>
                </a:schemeClr>
              </a:solidFill>
              <a:latin typeface="Arial"/>
              <a:cs typeface="Arial"/>
            </a:endParaRPr>
          </a:p>
          <a:p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87CA73-ADFC-5E31-699D-B47141821CD9}"/>
              </a:ext>
            </a:extLst>
          </p:cNvPr>
          <p:cNvCxnSpPr/>
          <p:nvPr/>
        </p:nvCxnSpPr>
        <p:spPr>
          <a:xfrm>
            <a:off x="6075175" y="1525104"/>
            <a:ext cx="47644" cy="33935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2A124B2-7C42-87E4-7581-E34B7951E491}"/>
              </a:ext>
            </a:extLst>
          </p:cNvPr>
          <p:cNvSpPr txBox="1"/>
          <p:nvPr/>
        </p:nvSpPr>
        <p:spPr>
          <a:xfrm>
            <a:off x="6954865" y="1526208"/>
            <a:ext cx="323132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latin typeface="Arial"/>
                <a:ea typeface="+mn-lt"/>
                <a:cs typeface="Arial"/>
              </a:rPr>
              <a:t>Engineering Solutions Applied</a:t>
            </a:r>
            <a:endParaRPr lang="en-US" b="1">
              <a:solidFill>
                <a:schemeClr val="bg2">
                  <a:lumMod val="76000"/>
                </a:schemeClr>
              </a:solidFill>
              <a:latin typeface="Arial"/>
              <a:cs typeface="Arial"/>
            </a:endParaRPr>
          </a:p>
          <a:p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2C54B4C-53F0-302F-8D81-0FE224082539}"/>
              </a:ext>
            </a:extLst>
          </p:cNvPr>
          <p:cNvCxnSpPr/>
          <p:nvPr/>
        </p:nvCxnSpPr>
        <p:spPr>
          <a:xfrm>
            <a:off x="656139" y="2435875"/>
            <a:ext cx="1929926" cy="10572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15B9D-9271-54C0-2EE7-07F9BDA4D799}"/>
              </a:ext>
            </a:extLst>
          </p:cNvPr>
          <p:cNvCxnSpPr/>
          <p:nvPr/>
        </p:nvCxnSpPr>
        <p:spPr>
          <a:xfrm>
            <a:off x="7318197" y="2421360"/>
            <a:ext cx="2024268" cy="25085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9C8BC26-696D-4EA4-EBC6-AC11FD451F4E}"/>
              </a:ext>
            </a:extLst>
          </p:cNvPr>
          <p:cNvSpPr txBox="1"/>
          <p:nvPr/>
        </p:nvSpPr>
        <p:spPr>
          <a:xfrm>
            <a:off x="856343" y="2681514"/>
            <a:ext cx="4288972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ptos"/>
                <a:ea typeface="Calibri"/>
                <a:cs typeface="Calibri"/>
              </a:rPr>
              <a:t>I</a:t>
            </a:r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ptos"/>
                <a:ea typeface="Calibri"/>
                <a:cs typeface="Arial"/>
              </a:rPr>
              <a:t>nconsistent text values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Aptos"/>
                <a:ea typeface="Calibri"/>
                <a:cs typeface="Arial"/>
              </a:rPr>
              <a:t>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/>
                <a:ea typeface="Calibri"/>
                <a:cs typeface="Arial"/>
              </a:rPr>
              <a:t>across regional fields, creating fragmented geographic reporting.</a:t>
            </a:r>
            <a:endParaRPr lang="en-US" sz="2000">
              <a:solidFill>
                <a:schemeClr val="bg1">
                  <a:lumMod val="95000"/>
                </a:schemeClr>
              </a:solidFill>
              <a:latin typeface="Aptos"/>
            </a:endParaRPr>
          </a:p>
          <a:p>
            <a:pPr>
              <a:buFont typeface="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ptos"/>
                <a:ea typeface="Calibri"/>
                <a:cs typeface="Arial"/>
              </a:rPr>
              <a:t>Structural blank rows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/>
                <a:ea typeface="Calibri"/>
                <a:cs typeface="Arial"/>
              </a:rPr>
              <a:t> and unassigned fulfillment fields that skewed total metrics.</a:t>
            </a:r>
            <a:endParaRPr lang="en-US" sz="2000">
              <a:solidFill>
                <a:schemeClr val="bg1">
                  <a:lumMod val="95000"/>
                </a:schemeClr>
              </a:solidFill>
              <a:latin typeface="Aptos"/>
            </a:endParaRPr>
          </a:p>
          <a:p>
            <a:pPr>
              <a:buFont typeface="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ptos"/>
                <a:ea typeface="Calibri"/>
                <a:cs typeface="Arial"/>
              </a:rPr>
              <a:t>Mismatched field formats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Aptos"/>
                <a:ea typeface="Calibri"/>
                <a:cs typeface="Arial"/>
              </a:rPr>
              <a:t>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/>
                <a:ea typeface="Calibri"/>
                <a:cs typeface="Arial"/>
              </a:rPr>
              <a:t>where numerical metrics were stored as unstructured text strings.</a:t>
            </a:r>
            <a:endParaRPr lang="en-US" sz="2000">
              <a:solidFill>
                <a:schemeClr val="bg1">
                  <a:lumMod val="95000"/>
                </a:schemeClr>
              </a:solidFill>
              <a:latin typeface="Aptos"/>
            </a:endParaRPr>
          </a:p>
          <a:p>
            <a:endParaRPr lang="en-US" sz="2000" dirty="0">
              <a:latin typeface="Aptos"/>
            </a:endParaRPr>
          </a:p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8B2D82-B7D5-1F58-23DC-DD11BDC46AF6}"/>
              </a:ext>
            </a:extLst>
          </p:cNvPr>
          <p:cNvSpPr txBox="1"/>
          <p:nvPr/>
        </p:nvSpPr>
        <p:spPr>
          <a:xfrm>
            <a:off x="7322456" y="2681513"/>
            <a:ext cx="4034972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Standardized regional names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(e.g., merging all 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regional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variations into </a:t>
            </a:r>
            <a:r>
              <a:rPr lang="en-US" sz="2000" i="1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Maharashtra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) using Excel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.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Aptos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Handled missing values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systematically by categorizing </a:t>
            </a:r>
            <a:r>
              <a:rPr lang="en-US" sz="2000" u="none" strike="noStrike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blank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entries as </a:t>
            </a:r>
            <a:r>
              <a:rPr lang="en-US" sz="2000" i="1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Unassigned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.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Aptos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Reconfigured data types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 to ensure proper math operations could run seamlessly in Power BI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latin typeface="Aptos"/>
                <a:ea typeface="+mn-lt"/>
                <a:cs typeface="Arial"/>
              </a:rPr>
              <a:t>.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Aptos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br>
              <a:rPr lang="en-US" dirty="0"/>
            </a:br>
            <a:endParaRPr lang="en-US" sz="2000" dirty="0"/>
          </a:p>
          <a:p>
            <a:pPr>
              <a:buFont typeface=""/>
              <a:buChar char="•"/>
            </a:pPr>
            <a:endParaRPr lang="en-US" sz="2000" b="0" u="none" strike="noStrike" dirty="0">
              <a:solidFill>
                <a:schemeClr val="bg1">
                  <a:lumMod val="95000"/>
                </a:schemeClr>
              </a:solidFill>
              <a:latin typeface="Aptos"/>
              <a:ea typeface="Google Sans"/>
              <a:cs typeface="Google Sans"/>
            </a:endParaRPr>
          </a:p>
          <a:p>
            <a:pPr algn="ctr"/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85665D-FAE1-E3DD-75DD-E52985376706}"/>
              </a:ext>
            </a:extLst>
          </p:cNvPr>
          <p:cNvSpPr txBox="1"/>
          <p:nvPr/>
        </p:nvSpPr>
        <p:spPr>
          <a:xfrm>
            <a:off x="418705" y="199886"/>
            <a:ext cx="4699315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bg2"/>
                </a:solidFill>
                <a:latin typeface="Arial"/>
                <a:ea typeface="+mn-lt"/>
                <a:cs typeface="Arial"/>
              </a:rPr>
              <a:t>Data Preprocessing &amp; Cleaning</a:t>
            </a:r>
            <a:endParaRPr lang="en-US" sz="3200">
              <a:solidFill>
                <a:schemeClr val="bg2"/>
              </a:solidFill>
              <a:latin typeface="Arial"/>
              <a:cs typeface="Arial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312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71E54-2C54-18FA-F565-C6EBC082D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50CF299D-C4AF-E2B4-1673-75FE1272D9B8}"/>
              </a:ext>
            </a:extLst>
          </p:cNvPr>
          <p:cNvSpPr/>
          <p:nvPr/>
        </p:nvSpPr>
        <p:spPr>
          <a:xfrm>
            <a:off x="1104" y="5116600"/>
            <a:ext cx="6097577" cy="17393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86186B-3B7F-8126-4440-B076814CC741}"/>
              </a:ext>
            </a:extLst>
          </p:cNvPr>
          <p:cNvSpPr/>
          <p:nvPr/>
        </p:nvSpPr>
        <p:spPr>
          <a:xfrm>
            <a:off x="7500572" y="5565912"/>
            <a:ext cx="4694266" cy="1031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99829-C5C2-EB84-0A63-D9AB68BACFD9}"/>
              </a:ext>
            </a:extLst>
          </p:cNvPr>
          <p:cNvSpPr txBox="1"/>
          <p:nvPr/>
        </p:nvSpPr>
        <p:spPr>
          <a:xfrm>
            <a:off x="771781" y="1526209"/>
            <a:ext cx="323132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latin typeface="Arial"/>
                <a:ea typeface="+mn-lt"/>
                <a:cs typeface="Arial"/>
              </a:rPr>
              <a:t>Sales &amp; Operations Volume</a:t>
            </a:r>
            <a:endParaRPr lang="en-US" b="1">
              <a:solidFill>
                <a:schemeClr val="bg2">
                  <a:lumMod val="76000"/>
                </a:schemeClr>
              </a:solidFill>
              <a:latin typeface="Arial"/>
              <a:cs typeface="Arial"/>
            </a:endParaRPr>
          </a:p>
          <a:p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298F87-0502-ED0F-BEAB-46B8FC809537}"/>
              </a:ext>
            </a:extLst>
          </p:cNvPr>
          <p:cNvCxnSpPr/>
          <p:nvPr/>
        </p:nvCxnSpPr>
        <p:spPr>
          <a:xfrm>
            <a:off x="6075175" y="1525104"/>
            <a:ext cx="47644" cy="33935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B4873ED-A1A7-520F-AE46-D2C3EA69CC64}"/>
              </a:ext>
            </a:extLst>
          </p:cNvPr>
          <p:cNvSpPr txBox="1"/>
          <p:nvPr/>
        </p:nvSpPr>
        <p:spPr>
          <a:xfrm>
            <a:off x="6998408" y="1526208"/>
            <a:ext cx="323132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latin typeface="Arial"/>
                <a:ea typeface="+mn-lt"/>
                <a:cs typeface="Arial"/>
              </a:rPr>
              <a:t>Channel &amp; Platform Performance</a:t>
            </a:r>
            <a:endParaRPr lang="en-US">
              <a:solidFill>
                <a:schemeClr val="bg2">
                  <a:lumMod val="76000"/>
                </a:schemeClr>
              </a:solidFill>
              <a:latin typeface="Arial"/>
              <a:cs typeface="Arial"/>
            </a:endParaRPr>
          </a:p>
          <a:p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6FD94D-69B7-5F04-E5B9-848F8136564B}"/>
              </a:ext>
            </a:extLst>
          </p:cNvPr>
          <p:cNvCxnSpPr/>
          <p:nvPr/>
        </p:nvCxnSpPr>
        <p:spPr>
          <a:xfrm>
            <a:off x="772254" y="2341533"/>
            <a:ext cx="1929926" cy="10572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16EA2A-11CA-7A06-16B0-0DAB60509CD6}"/>
              </a:ext>
            </a:extLst>
          </p:cNvPr>
          <p:cNvCxnSpPr/>
          <p:nvPr/>
        </p:nvCxnSpPr>
        <p:spPr>
          <a:xfrm>
            <a:off x="7202083" y="2312503"/>
            <a:ext cx="2024268" cy="25085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C81385B-5517-F9D7-52BD-6CBBF37A68F2}"/>
              </a:ext>
            </a:extLst>
          </p:cNvPr>
          <p:cNvSpPr txBox="1"/>
          <p:nvPr/>
        </p:nvSpPr>
        <p:spPr>
          <a:xfrm>
            <a:off x="936172" y="2507343"/>
            <a:ext cx="42164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128.98K total orders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successfully processed 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across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all e-commerce distribution channels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116.65K products shipped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out of warehouses to fulfill customer demands nationwide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36 states &amp; territories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reached, establishing a truly comprehensive geographic sales footprint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FCE61-22E1-3E04-FE54-6901C7BC8AC4}"/>
              </a:ext>
            </a:extLst>
          </p:cNvPr>
          <p:cNvSpPr txBox="1"/>
          <p:nvPr/>
        </p:nvSpPr>
        <p:spPr>
          <a:xfrm>
            <a:off x="7315199" y="2507342"/>
            <a:ext cx="422365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99.8% volume dominance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held firmly by the </a:t>
            </a: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Amazon.in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storefront platform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116.48K items sold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directly via Amazon, cementing it as the primary revenue engine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167 non-Amazon items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processed, highlighting an area ripe for multi-channel sales expansion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804497-2659-97A9-7502-8856A561E61D}"/>
              </a:ext>
            </a:extLst>
          </p:cNvPr>
          <p:cNvSpPr txBox="1"/>
          <p:nvPr/>
        </p:nvSpPr>
        <p:spPr>
          <a:xfrm>
            <a:off x="367905" y="178114"/>
            <a:ext cx="5163772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2"/>
                </a:solidFill>
                <a:latin typeface="Arial"/>
                <a:ea typeface="+mn-lt"/>
                <a:cs typeface="Arial"/>
              </a:rPr>
              <a:t>Executive KPI Insights</a:t>
            </a:r>
            <a:endParaRPr lang="en-US" sz="3600">
              <a:solidFill>
                <a:schemeClr val="bg2"/>
              </a:solidFill>
              <a:latin typeface="Arial"/>
              <a:cs typeface="Arial"/>
            </a:endParaRPr>
          </a:p>
          <a:p>
            <a:endParaRPr lang="en-US" sz="3200" b="1" dirty="0">
              <a:solidFill>
                <a:schemeClr val="bg2"/>
              </a:solidFill>
              <a:latin typeface="Arial"/>
              <a:cs typeface="Arial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99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D2918-5573-B740-9031-4A2C3220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56ABAABA-0332-9180-C381-40D09AF8B2CB}"/>
              </a:ext>
            </a:extLst>
          </p:cNvPr>
          <p:cNvSpPr/>
          <p:nvPr/>
        </p:nvSpPr>
        <p:spPr>
          <a:xfrm rot="16200000">
            <a:off x="8901989" y="3567199"/>
            <a:ext cx="4885635" cy="16958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5CF6A0-E5E5-3AA9-CA65-BCFC09445260}"/>
              </a:ext>
            </a:extLst>
          </p:cNvPr>
          <p:cNvSpPr/>
          <p:nvPr/>
        </p:nvSpPr>
        <p:spPr>
          <a:xfrm rot="5400000">
            <a:off x="-1570857" y="1806712"/>
            <a:ext cx="4694266" cy="1031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4A85B-0ED4-8CE0-D185-007DE1A2BC16}"/>
              </a:ext>
            </a:extLst>
          </p:cNvPr>
          <p:cNvSpPr txBox="1"/>
          <p:nvPr/>
        </p:nvSpPr>
        <p:spPr>
          <a:xfrm>
            <a:off x="1657152" y="1526209"/>
            <a:ext cx="274509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latin typeface="Arial"/>
                <a:ea typeface="+mn-lt"/>
                <a:cs typeface="Arial"/>
              </a:rPr>
              <a:t>Fulfillment</a:t>
            </a:r>
          </a:p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latin typeface="Arial"/>
                <a:ea typeface="+mn-lt"/>
                <a:cs typeface="Arial"/>
              </a:rPr>
              <a:t>Strategy</a:t>
            </a:r>
            <a:endParaRPr lang="en-US" sz="2400" b="1">
              <a:solidFill>
                <a:schemeClr val="bg2">
                  <a:lumMod val="76000"/>
                </a:schemeClr>
              </a:solidFill>
              <a:latin typeface="Arial"/>
              <a:cs typeface="Arial"/>
            </a:endParaRPr>
          </a:p>
          <a:p>
            <a:endParaRPr lang="en-US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614D85E-FD76-EC1A-9D32-486C62F04FAF}"/>
              </a:ext>
            </a:extLst>
          </p:cNvPr>
          <p:cNvCxnSpPr/>
          <p:nvPr/>
        </p:nvCxnSpPr>
        <p:spPr>
          <a:xfrm>
            <a:off x="6067918" y="2243561"/>
            <a:ext cx="47644" cy="33935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6D58ECA-C2FD-D34D-1BCC-481178AF2925}"/>
              </a:ext>
            </a:extLst>
          </p:cNvPr>
          <p:cNvSpPr txBox="1"/>
          <p:nvPr/>
        </p:nvSpPr>
        <p:spPr>
          <a:xfrm>
            <a:off x="6998408" y="1417351"/>
            <a:ext cx="323132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latin typeface="Arial"/>
                <a:ea typeface="+mn-lt"/>
                <a:cs typeface="Arial"/>
              </a:rPr>
              <a:t>Order Status &amp; Pipeline Health</a:t>
            </a:r>
            <a:endParaRPr lang="en-US" sz="2400" b="1">
              <a:solidFill>
                <a:schemeClr val="bg2">
                  <a:lumMod val="76000"/>
                </a:schemeClr>
              </a:solidFill>
              <a:latin typeface="Arial"/>
              <a:cs typeface="Arial"/>
            </a:endParaRPr>
          </a:p>
          <a:p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1F1FB3-E661-71AF-D1E4-88CA4D2169B5}"/>
              </a:ext>
            </a:extLst>
          </p:cNvPr>
          <p:cNvCxnSpPr/>
          <p:nvPr/>
        </p:nvCxnSpPr>
        <p:spPr>
          <a:xfrm>
            <a:off x="1657625" y="2370562"/>
            <a:ext cx="1929926" cy="10572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F29E60-DC37-AE73-0EC0-FCE45A3C0BA7}"/>
              </a:ext>
            </a:extLst>
          </p:cNvPr>
          <p:cNvCxnSpPr/>
          <p:nvPr/>
        </p:nvCxnSpPr>
        <p:spPr>
          <a:xfrm>
            <a:off x="7144026" y="2276217"/>
            <a:ext cx="2024268" cy="25085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65EF95B-1222-5898-BE31-77DAF8C4AEBA}"/>
              </a:ext>
            </a:extLst>
          </p:cNvPr>
          <p:cNvSpPr txBox="1"/>
          <p:nvPr/>
        </p:nvSpPr>
        <p:spPr>
          <a:xfrm>
            <a:off x="1480458" y="2637972"/>
            <a:ext cx="42164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78.43K shipments automated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seamlessly through the Fulfillment by Amazon (FBA) network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32.56K orders managed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and dispatched directly by merchants using the Easy Ship program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70.6% FBA reliance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underscores a major operational dependence on Amazon’s logistics ecosystem.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FAD9C8-3E4E-C489-FB9B-F3ABB9F509FC}"/>
              </a:ext>
            </a:extLst>
          </p:cNvPr>
          <p:cNvSpPr txBox="1"/>
          <p:nvPr/>
        </p:nvSpPr>
        <p:spPr>
          <a:xfrm>
            <a:off x="6502399" y="2507342"/>
            <a:ext cx="422365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4 key stages tracked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dynamically to monitor the live operational state of every package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Real-time status loops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categorize items accurately into Shipped, Cancelled, or Pending states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Bottleneck isolation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helps logistics teams quickly flag and resolve delayed, unshipped orders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C6B97-8850-A576-DA66-CA586FFCA2F2}"/>
              </a:ext>
            </a:extLst>
          </p:cNvPr>
          <p:cNvSpPr txBox="1"/>
          <p:nvPr/>
        </p:nvSpPr>
        <p:spPr>
          <a:xfrm>
            <a:off x="2624877" y="301485"/>
            <a:ext cx="7384457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2"/>
                </a:solidFill>
                <a:latin typeface="Arial"/>
                <a:cs typeface="Arial"/>
              </a:rPr>
              <a:t>Logistics &amp; Inventory Deep Dive</a:t>
            </a:r>
            <a:endParaRPr lang="en-US" b="1">
              <a:solidFill>
                <a:schemeClr val="bg2"/>
              </a:solidFill>
              <a:latin typeface="Arial"/>
              <a:cs typeface="Arial"/>
            </a:endParaRPr>
          </a:p>
          <a:p>
            <a:endParaRPr lang="en-US" sz="3200" b="1" dirty="0">
              <a:solidFill>
                <a:schemeClr val="bg2"/>
              </a:solidFill>
              <a:latin typeface="Arial"/>
              <a:cs typeface="Arial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654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D5243-B0CB-CC4B-2071-64FA57E4F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E099F4DB-A505-8FA1-D3AD-47A3DF158ECE}"/>
              </a:ext>
            </a:extLst>
          </p:cNvPr>
          <p:cNvSpPr/>
          <p:nvPr/>
        </p:nvSpPr>
        <p:spPr>
          <a:xfrm rot="10800000">
            <a:off x="7305418" y="25713"/>
            <a:ext cx="4885635" cy="16958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933A2C-9156-3264-02CC-A8DC999CD6E9}"/>
              </a:ext>
            </a:extLst>
          </p:cNvPr>
          <p:cNvSpPr/>
          <p:nvPr/>
        </p:nvSpPr>
        <p:spPr>
          <a:xfrm>
            <a:off x="-3314" y="355283"/>
            <a:ext cx="3634724" cy="1031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358A7-3139-09C1-6584-40EFE2D0B0BC}"/>
              </a:ext>
            </a:extLst>
          </p:cNvPr>
          <p:cNvSpPr txBox="1"/>
          <p:nvPr/>
        </p:nvSpPr>
        <p:spPr>
          <a:xfrm>
            <a:off x="1693437" y="2462380"/>
            <a:ext cx="3224064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latin typeface="Arial"/>
                <a:ea typeface="+mn-lt"/>
                <a:cs typeface="Arial"/>
              </a:rPr>
              <a:t>Geographic Demand Hotspots</a:t>
            </a:r>
            <a:endParaRPr lang="en-US" sz="2400" b="1">
              <a:solidFill>
                <a:schemeClr val="bg2">
                  <a:lumMod val="76000"/>
                </a:schemeClr>
              </a:solidFill>
              <a:latin typeface="Arial"/>
              <a:cs typeface="Arial"/>
            </a:endParaRPr>
          </a:p>
          <a:p>
            <a:endParaRPr lang="en-US" b="1" dirty="0">
              <a:latin typeface="Arial"/>
              <a:cs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A034EA4-864D-6856-56F9-652BB483E29A}"/>
              </a:ext>
            </a:extLst>
          </p:cNvPr>
          <p:cNvCxnSpPr/>
          <p:nvPr/>
        </p:nvCxnSpPr>
        <p:spPr>
          <a:xfrm>
            <a:off x="6009861" y="3020075"/>
            <a:ext cx="47644" cy="33935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D1EE82D-B85A-A0DD-7A51-7ACFA873725E}"/>
              </a:ext>
            </a:extLst>
          </p:cNvPr>
          <p:cNvSpPr txBox="1"/>
          <p:nvPr/>
        </p:nvSpPr>
        <p:spPr>
          <a:xfrm>
            <a:off x="6504923" y="2563979"/>
            <a:ext cx="365949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latin typeface="Arial"/>
                <a:ea typeface="+mn-lt"/>
                <a:cs typeface="Arial"/>
              </a:rPr>
              <a:t>The Long-Tail Drop-Off</a:t>
            </a:r>
            <a:endParaRPr lang="en-US" sz="2400" b="1">
              <a:solidFill>
                <a:schemeClr val="bg2">
                  <a:lumMod val="76000"/>
                </a:schemeClr>
              </a:solidFill>
              <a:latin typeface="Arial"/>
              <a:cs typeface="Arial"/>
            </a:endParaRPr>
          </a:p>
          <a:p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C2F00CE-91C1-3971-6C19-5EF92C1F7BEC}"/>
              </a:ext>
            </a:extLst>
          </p:cNvPr>
          <p:cNvCxnSpPr/>
          <p:nvPr/>
        </p:nvCxnSpPr>
        <p:spPr>
          <a:xfrm>
            <a:off x="1693911" y="3343019"/>
            <a:ext cx="1929926" cy="10572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4BD910-3352-2137-DA06-A59BEE420BB0}"/>
              </a:ext>
            </a:extLst>
          </p:cNvPr>
          <p:cNvCxnSpPr/>
          <p:nvPr/>
        </p:nvCxnSpPr>
        <p:spPr>
          <a:xfrm>
            <a:off x="6505397" y="3343017"/>
            <a:ext cx="2024268" cy="25085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BA80C0C-E2B4-DA3B-83C6-F58288EBE47B}"/>
              </a:ext>
            </a:extLst>
          </p:cNvPr>
          <p:cNvSpPr txBox="1"/>
          <p:nvPr/>
        </p:nvSpPr>
        <p:spPr>
          <a:xfrm>
            <a:off x="1480458" y="3559630"/>
            <a:ext cx="42164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Maharashtra dominates volume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as the highest-density market for successful product fulfillment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Karnataka tracks closely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in second place, establishing a powerful secondary distribution hub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Top 5 concentration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captures the vast majority of sales, revealing distinct regional customer clusters.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813ED-C31C-DAF7-F506-78E865195A09}"/>
              </a:ext>
            </a:extLst>
          </p:cNvPr>
          <p:cNvSpPr txBox="1"/>
          <p:nvPr/>
        </p:nvSpPr>
        <p:spPr>
          <a:xfrm>
            <a:off x="6502399" y="3429000"/>
            <a:ext cx="4223657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Steep volume decline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observed immediately following the top five performing Indian states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Fragmented market shares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across the remaining 31 territories indicate highly localized demand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Untapped market potential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suggests a clear need for geographically targeted digital marketing campaigns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CCEEF-1C2E-DB89-5448-FCCF5C831BA4}"/>
              </a:ext>
            </a:extLst>
          </p:cNvPr>
          <p:cNvSpPr txBox="1"/>
          <p:nvPr/>
        </p:nvSpPr>
        <p:spPr>
          <a:xfrm>
            <a:off x="1282305" y="1607771"/>
            <a:ext cx="10120398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2"/>
                </a:solidFill>
                <a:latin typeface="Arial"/>
                <a:ea typeface="+mn-lt"/>
                <a:cs typeface="Arial"/>
              </a:rPr>
              <a:t>Regional Demands &amp; Actionable Takeaways</a:t>
            </a:r>
            <a:endParaRPr lang="en-US" b="1">
              <a:solidFill>
                <a:schemeClr val="bg2"/>
              </a:solidFill>
              <a:latin typeface="Arial"/>
              <a:cs typeface="Arial"/>
            </a:endParaRPr>
          </a:p>
          <a:p>
            <a:endParaRPr lang="en-US" sz="3200" b="1" dirty="0">
              <a:solidFill>
                <a:schemeClr val="bg2"/>
              </a:solidFill>
              <a:latin typeface="Arial"/>
              <a:cs typeface="Arial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17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05092-952C-62A2-DE47-71301E91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EACCCA41-FDD5-45AD-24D6-7C110295205D}"/>
              </a:ext>
            </a:extLst>
          </p:cNvPr>
          <p:cNvSpPr/>
          <p:nvPr/>
        </p:nvSpPr>
        <p:spPr>
          <a:xfrm rot="-5400000">
            <a:off x="8901989" y="3567199"/>
            <a:ext cx="4885635" cy="16958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8D3A9B-ACD4-9D12-4389-8C8D3C42ABFF}"/>
              </a:ext>
            </a:extLst>
          </p:cNvPr>
          <p:cNvSpPr/>
          <p:nvPr/>
        </p:nvSpPr>
        <p:spPr>
          <a:xfrm rot="-5400000">
            <a:off x="-1178971" y="1298712"/>
            <a:ext cx="3634724" cy="1031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4E6B3-5726-01F8-012E-9D13D8F62892}"/>
              </a:ext>
            </a:extLst>
          </p:cNvPr>
          <p:cNvSpPr txBox="1"/>
          <p:nvPr/>
        </p:nvSpPr>
        <p:spPr>
          <a:xfrm>
            <a:off x="1693437" y="2462380"/>
            <a:ext cx="3224064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latin typeface="Arial"/>
                <a:ea typeface="+mn-lt"/>
                <a:cs typeface="Arial"/>
              </a:rPr>
              <a:t>Sizing &amp; Inventory Dynamics</a:t>
            </a:r>
            <a:endParaRPr lang="en-US" sz="2400" b="1">
              <a:solidFill>
                <a:schemeClr val="bg2">
                  <a:lumMod val="76000"/>
                </a:schemeClr>
              </a:solidFill>
              <a:latin typeface="Arial"/>
              <a:cs typeface="Arial"/>
            </a:endParaRPr>
          </a:p>
          <a:p>
            <a:endParaRPr lang="en-US" b="1" dirty="0">
              <a:latin typeface="Arial"/>
              <a:cs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95D7A1-ED75-CD0F-2CA9-97B50575231C}"/>
              </a:ext>
            </a:extLst>
          </p:cNvPr>
          <p:cNvCxnSpPr/>
          <p:nvPr/>
        </p:nvCxnSpPr>
        <p:spPr>
          <a:xfrm>
            <a:off x="6009861" y="3020075"/>
            <a:ext cx="47644" cy="33935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20509EB-935B-BABD-C416-CA3004AB10BD}"/>
              </a:ext>
            </a:extLst>
          </p:cNvPr>
          <p:cNvSpPr txBox="1"/>
          <p:nvPr/>
        </p:nvSpPr>
        <p:spPr>
          <a:xfrm>
            <a:off x="6497666" y="2462379"/>
            <a:ext cx="36594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latin typeface="Arial"/>
                <a:ea typeface="+mn-lt"/>
                <a:cs typeface="Arial"/>
              </a:rPr>
              <a:t>Strategic Recommendations</a:t>
            </a:r>
            <a:endParaRPr lang="en-US" sz="2400" b="1">
              <a:solidFill>
                <a:schemeClr val="bg2">
                  <a:lumMod val="76000"/>
                </a:schemeClr>
              </a:solidFill>
              <a:latin typeface="Arial"/>
              <a:cs typeface="Arial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69823A-8EDC-6A49-89A9-1A7CA11318A9}"/>
              </a:ext>
            </a:extLst>
          </p:cNvPr>
          <p:cNvCxnSpPr/>
          <p:nvPr/>
        </p:nvCxnSpPr>
        <p:spPr>
          <a:xfrm>
            <a:off x="1693911" y="3343019"/>
            <a:ext cx="1929926" cy="10572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DBCF385-293C-E953-93AF-A560D038446D}"/>
              </a:ext>
            </a:extLst>
          </p:cNvPr>
          <p:cNvCxnSpPr/>
          <p:nvPr/>
        </p:nvCxnSpPr>
        <p:spPr>
          <a:xfrm>
            <a:off x="6505397" y="3343017"/>
            <a:ext cx="2024268" cy="25085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5111AD6-FF09-79AB-4B4C-A69A069FE28F}"/>
              </a:ext>
            </a:extLst>
          </p:cNvPr>
          <p:cNvSpPr txBox="1"/>
          <p:nvPr/>
        </p:nvSpPr>
        <p:spPr>
          <a:xfrm>
            <a:off x="1480458" y="3559630"/>
            <a:ext cx="42164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Full sizing spectrum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analyzed systematically from standard XS up to specialized 6XL categories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Volume mapping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matches specific garment sizes directly to regional buyer demand trends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Cancellation alerts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pinpoint exactly which product sizes suffer from high customer return rates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A6A226-E7FC-7893-C42B-00CD56064A2C}"/>
              </a:ext>
            </a:extLst>
          </p:cNvPr>
          <p:cNvSpPr txBox="1"/>
          <p:nvPr/>
        </p:nvSpPr>
        <p:spPr>
          <a:xfrm>
            <a:off x="6502399" y="3429000"/>
            <a:ext cx="422365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Optimize stock allocation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by shifting physical inventory closer to Western and Southern hubs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Reduce shipping transit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times significantly for high-volume zones to increase buyer satisfaction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Target low-volume states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with localized ad spends to scale and diversify the customer footprint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4076BA-B329-6520-1E7E-34ED033BC8FA}"/>
              </a:ext>
            </a:extLst>
          </p:cNvPr>
          <p:cNvSpPr txBox="1"/>
          <p:nvPr/>
        </p:nvSpPr>
        <p:spPr>
          <a:xfrm>
            <a:off x="6500190" y="127313"/>
            <a:ext cx="4706570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2"/>
                </a:solidFill>
                <a:latin typeface="Arial"/>
                <a:ea typeface="+mn-lt"/>
                <a:cs typeface="Arial"/>
              </a:rPr>
              <a:t>Regional Demands &amp; Actionable Takeaways</a:t>
            </a:r>
            <a:endParaRPr lang="en-US" b="1">
              <a:solidFill>
                <a:schemeClr val="bg2"/>
              </a:solidFill>
              <a:latin typeface="Arial"/>
              <a:cs typeface="Arial"/>
            </a:endParaRPr>
          </a:p>
          <a:p>
            <a:endParaRPr lang="en-US" sz="3200" b="1" dirty="0">
              <a:solidFill>
                <a:schemeClr val="bg2"/>
              </a:solidFill>
              <a:latin typeface="Arial"/>
              <a:cs typeface="Arial"/>
            </a:endParaRPr>
          </a:p>
          <a:p>
            <a:pPr algn="l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1E1FE0-848A-4F76-8438-463D7682889C}"/>
              </a:ext>
            </a:extLst>
          </p:cNvPr>
          <p:cNvSpPr txBox="1"/>
          <p:nvPr/>
        </p:nvSpPr>
        <p:spPr>
          <a:xfrm>
            <a:off x="1630648" y="243428"/>
            <a:ext cx="3995371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2"/>
                </a:solidFill>
                <a:latin typeface="Arial"/>
                <a:cs typeface="Arial"/>
              </a:rPr>
              <a:t>Logistics &amp; Inventory Deep Dive</a:t>
            </a:r>
            <a:endParaRPr lang="en-US" b="1">
              <a:solidFill>
                <a:schemeClr val="bg2"/>
              </a:solidFill>
              <a:latin typeface="Arial"/>
              <a:cs typeface="Arial"/>
            </a:endParaRPr>
          </a:p>
          <a:p>
            <a:endParaRPr lang="en-US" sz="3200" b="1" dirty="0">
              <a:solidFill>
                <a:schemeClr val="bg2"/>
              </a:solidFill>
              <a:latin typeface="Arial"/>
              <a:cs typeface="Arial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940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B94FCA-52D2-0695-48E1-093B7655DA60}"/>
              </a:ext>
            </a:extLst>
          </p:cNvPr>
          <p:cNvSpPr txBox="1"/>
          <p:nvPr/>
        </p:nvSpPr>
        <p:spPr>
          <a:xfrm>
            <a:off x="3923904" y="620800"/>
            <a:ext cx="3414799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>
                <a:solidFill>
                  <a:schemeClr val="bg2"/>
                </a:solidFill>
                <a:latin typeface="Arial"/>
                <a:cs typeface="Arial"/>
              </a:rPr>
              <a:t>Thank </a:t>
            </a:r>
            <a:r>
              <a:rPr lang="en-US" sz="4800" b="1">
                <a:solidFill>
                  <a:schemeClr val="bg2"/>
                </a:solidFill>
                <a:latin typeface="Arial"/>
                <a:cs typeface="Arial"/>
              </a:rPr>
              <a:t>you</a:t>
            </a:r>
            <a:endParaRPr lang="en-US" sz="4800" b="1" dirty="0">
              <a:solidFill>
                <a:schemeClr val="bg2"/>
              </a:solidFill>
              <a:latin typeface="Arial"/>
              <a:cs typeface="Arial"/>
            </a:endParaRPr>
          </a:p>
          <a:p>
            <a:endParaRPr lang="en-US" sz="3200" b="1" dirty="0">
              <a:solidFill>
                <a:schemeClr val="bg2"/>
              </a:solidFill>
              <a:latin typeface="Arial"/>
              <a:cs typeface="Arial"/>
            </a:endParaRP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D32599-F4A7-A3AB-D343-0FECB542F0C3}"/>
              </a:ext>
            </a:extLst>
          </p:cNvPr>
          <p:cNvSpPr txBox="1"/>
          <p:nvPr/>
        </p:nvSpPr>
        <p:spPr>
          <a:xfrm>
            <a:off x="3268237" y="1569752"/>
            <a:ext cx="64026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Let’s Connect &amp; Collaborate</a:t>
            </a:r>
            <a:br>
              <a:rPr lang="en-US" sz="2400" b="1" dirty="0"/>
            </a:br>
            <a:endParaRPr lang="en-US" sz="1200">
              <a:solidFill>
                <a:schemeClr val="bg2">
                  <a:lumMod val="76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BA46-61A9-9C19-B665-4807E6D2FDE0}"/>
              </a:ext>
            </a:extLst>
          </p:cNvPr>
          <p:cNvSpPr txBox="1"/>
          <p:nvPr/>
        </p:nvSpPr>
        <p:spPr>
          <a:xfrm>
            <a:off x="1632858" y="2260602"/>
            <a:ext cx="42164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rial"/>
                <a:ea typeface="+mn-lt"/>
                <a:cs typeface="Arial"/>
              </a:rPr>
              <a:t>Passionate about analytics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"/>
                <a:ea typeface="+mn-lt"/>
                <a:cs typeface="Arial"/>
              </a:rPr>
              <a:t> that bridge the gap between raw data and business growth</a:t>
            </a:r>
            <a:r>
              <a:rPr lang="en-US" sz="2000" b="0" u="none" strike="noStrike">
                <a:solidFill>
                  <a:schemeClr val="bg1">
                    <a:lumMod val="95000"/>
                  </a:schemeClr>
                </a:solidFill>
                <a:latin typeface="Arial"/>
                <a:ea typeface="+mn-lt"/>
                <a:cs typeface="Arial"/>
              </a:rPr>
              <a:t>.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56391-61DB-BC80-9389-2AF52ABD8604}"/>
              </a:ext>
            </a:extLst>
          </p:cNvPr>
          <p:cNvSpPr txBox="1"/>
          <p:nvPr/>
        </p:nvSpPr>
        <p:spPr>
          <a:xfrm>
            <a:off x="6945086" y="2217058"/>
            <a:ext cx="42164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rial"/>
                <a:ea typeface="+mn-lt"/>
                <a:cs typeface="Arial"/>
              </a:rPr>
              <a:t>Ready for data analyst opportunities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"/>
                <a:ea typeface="+mn-lt"/>
                <a:cs typeface="Arial"/>
              </a:rPr>
              <a:t> in collaborative, fast-paced teams</a:t>
            </a:r>
            <a:endParaRPr lang="en-US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A035F87B-FF53-9DE5-41EC-5643355FAEF3}"/>
              </a:ext>
            </a:extLst>
          </p:cNvPr>
          <p:cNvSpPr/>
          <p:nvPr/>
        </p:nvSpPr>
        <p:spPr>
          <a:xfrm>
            <a:off x="6474949" y="2366459"/>
            <a:ext cx="447260" cy="397565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34477F3A-9D04-39B0-0EBC-4583FA1BD428}"/>
              </a:ext>
            </a:extLst>
          </p:cNvPr>
          <p:cNvSpPr/>
          <p:nvPr/>
        </p:nvSpPr>
        <p:spPr>
          <a:xfrm>
            <a:off x="1068377" y="2366458"/>
            <a:ext cx="447260" cy="397565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55671F-C50A-0FAA-D6CB-C13143933904}"/>
              </a:ext>
            </a:extLst>
          </p:cNvPr>
          <p:cNvCxnSpPr/>
          <p:nvPr/>
        </p:nvCxnSpPr>
        <p:spPr>
          <a:xfrm flipV="1">
            <a:off x="3593389" y="2000130"/>
            <a:ext cx="3347278" cy="35340"/>
          </a:xfrm>
          <a:prstGeom prst="straightConnector1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2BBF2A4-D18D-5CC4-8800-329AE2D91BD7}"/>
              </a:ext>
            </a:extLst>
          </p:cNvPr>
          <p:cNvSpPr txBox="1"/>
          <p:nvPr/>
        </p:nvSpPr>
        <p:spPr>
          <a:xfrm>
            <a:off x="3268236" y="3427580"/>
            <a:ext cx="64026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6000"/>
                  </a:schemeClr>
                </a:solidFill>
                <a:ea typeface="+mn-lt"/>
                <a:cs typeface="+mn-lt"/>
              </a:rPr>
              <a:t>Project &amp; Professional Links</a:t>
            </a:r>
            <a:endParaRPr lang="en-US" b="1">
              <a:solidFill>
                <a:schemeClr val="bg2">
                  <a:lumMod val="76000"/>
                </a:schemeClr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DD46F9-CA9A-0ECC-F30C-7C7F75A84419}"/>
              </a:ext>
            </a:extLst>
          </p:cNvPr>
          <p:cNvCxnSpPr>
            <a:cxnSpLocks/>
          </p:cNvCxnSpPr>
          <p:nvPr/>
        </p:nvCxnSpPr>
        <p:spPr>
          <a:xfrm flipV="1">
            <a:off x="3738531" y="3872472"/>
            <a:ext cx="3347278" cy="35340"/>
          </a:xfrm>
          <a:prstGeom prst="straightConnector1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EB32EDB-44F6-48BC-3B97-84B848AE2AC7}"/>
              </a:ext>
            </a:extLst>
          </p:cNvPr>
          <p:cNvSpPr txBox="1"/>
          <p:nvPr/>
        </p:nvSpPr>
        <p:spPr>
          <a:xfrm>
            <a:off x="2061030" y="4220028"/>
            <a:ext cx="8824685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/>
                <a:ea typeface="+mn-lt"/>
                <a:cs typeface="Arial"/>
              </a:rPr>
              <a:t>GitHub Repository: </a:t>
            </a:r>
            <a:r>
              <a:rPr lang="en-US" sz="2400" b="1" u="sng" dirty="0">
                <a:solidFill>
                  <a:schemeClr val="bg1">
                    <a:lumMod val="95000"/>
                  </a:schemeClr>
                </a:solidFill>
                <a:latin typeface="Arial"/>
                <a:ea typeface="+mn-lt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⁠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https://github.com/akshayaramachandran9192-ctrl</a:t>
            </a:r>
            <a:endParaRPr lang="en-US" sz="2400" b="1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/>
                <a:ea typeface="+mn-lt"/>
                <a:cs typeface="Arial"/>
              </a:rPr>
              <a:t>LinkedIn Profile: </a:t>
            </a:r>
            <a:endParaRPr lang="en-US" sz="2000">
              <a:solidFill>
                <a:schemeClr val="bg1">
                  <a:lumMod val="95000"/>
                </a:schemeClr>
              </a:solidFill>
              <a:highlight>
                <a:srgbClr val="FFFFFF"/>
              </a:highlight>
              <a:latin typeface="Aptos"/>
              <a:ea typeface="+mn-lt"/>
              <a:cs typeface="Arial"/>
            </a:endParaRP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"/>
                <a:ea typeface="+mn-lt"/>
                <a:cs typeface="Arial"/>
              </a:rPr>
              <a:t>     www.linkedin.com/in/akshaya-ramachandran-37134426b</a:t>
            </a:r>
            <a:endParaRPr lang="en-US" sz="2000">
              <a:solidFill>
                <a:schemeClr val="bg1">
                  <a:lumMod val="95000"/>
                </a:schemeClr>
              </a:solidFill>
              <a:highlight>
                <a:srgbClr val="FFFFFF"/>
              </a:highlight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/>
                <a:ea typeface="+mn-lt"/>
                <a:cs typeface="Arial"/>
              </a:rPr>
              <a:t>Email Contact: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"/>
                <a:ea typeface="+mn-lt"/>
                <a:cs typeface="Arial"/>
              </a:rPr>
              <a:t>akshayaramachandran9192@gmail.com</a:t>
            </a:r>
            <a:endParaRPr lang="en-US" sz="200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E2ABDC5D-D057-A0F5-F32D-7E37F31A1257}"/>
              </a:ext>
            </a:extLst>
          </p:cNvPr>
          <p:cNvSpPr/>
          <p:nvPr/>
        </p:nvSpPr>
        <p:spPr>
          <a:xfrm>
            <a:off x="8300910" y="-294862"/>
            <a:ext cx="3891405" cy="105733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E30A63D8-32D4-E173-DC43-3AB0372E2A68}"/>
              </a:ext>
            </a:extLst>
          </p:cNvPr>
          <p:cNvSpPr/>
          <p:nvPr/>
        </p:nvSpPr>
        <p:spPr>
          <a:xfrm rot="10800000">
            <a:off x="-8518" y="6142224"/>
            <a:ext cx="4188947" cy="9992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B06F99-682C-2094-17F0-D11397801815}"/>
              </a:ext>
            </a:extLst>
          </p:cNvPr>
          <p:cNvSpPr/>
          <p:nvPr/>
        </p:nvSpPr>
        <p:spPr>
          <a:xfrm rot="5400000">
            <a:off x="-1373177" y="1331212"/>
            <a:ext cx="3577297" cy="899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C16E41-3C9F-0911-5FC4-C4553B09E19A}"/>
              </a:ext>
            </a:extLst>
          </p:cNvPr>
          <p:cNvSpPr/>
          <p:nvPr/>
        </p:nvSpPr>
        <p:spPr>
          <a:xfrm rot="5400000">
            <a:off x="9955223" y="4618697"/>
            <a:ext cx="3577297" cy="899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79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Amazon Sales Analysis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626</cp:revision>
  <dcterms:created xsi:type="dcterms:W3CDTF">2026-06-21T15:44:55Z</dcterms:created>
  <dcterms:modified xsi:type="dcterms:W3CDTF">2026-06-22T16:45:28Z</dcterms:modified>
</cp:coreProperties>
</file>